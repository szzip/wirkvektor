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Wirkung</c:v>
                </c:pt>
              </c:strCache>
            </c:strRef>
          </c:tx>
          <c:spPr>
            <a:solidFill>
              <a:srgbClr val="0D9488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34</c:v>
                </c:pt>
                <c:pt idx="2">
                  <c:v>52</c:v>
                </c:pt>
                <c:pt idx="3">
                  <c:v>71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Anteil</c:v>
                </c:pt>
              </c:strCache>
            </c:strRef>
          </c:tx>
          <c:dPt>
            <c:idx val="0"/>
            <c:spPr>
              <a:solidFill>
                <a:srgbClr val="0F172A"/>
              </a:solidFill>
            </c:spPr>
          </c:dPt>
          <c:dPt>
            <c:idx val="1"/>
            <c:spPr>
              <a:solidFill>
                <a:srgbClr val="0D9488"/>
              </a:solidFill>
            </c:spPr>
          </c:dPt>
          <c:dPt>
            <c:idx val="2"/>
            <c:spPr>
              <a:solidFill>
                <a:srgbClr val="22D3EE"/>
              </a:solidFill>
            </c:spPr>
          </c:dPt>
          <c:dPt>
            <c:idx val="3"/>
            <c:spPr>
              <a:solidFill>
                <a:srgbClr val="94A3B8"/>
              </a:solidFill>
            </c:spPr>
          </c:dPt>
          <c:cat>
            <c:strRef>
              <c:f>Sheet1!$A$2:$A$5</c:f>
              <c:strCache>
                <c:ptCount val="4"/>
                <c:pt idx="0">
                  <c:v>Strategie</c:v>
                </c:pt>
                <c:pt idx="1">
                  <c:v>Governance</c:v>
                </c:pt>
                <c:pt idx="2">
                  <c:v>Befähigung</c:v>
                </c:pt>
                <c:pt idx="3">
                  <c:v>Betrieb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25</c:v>
                </c:pt>
                <c:pt idx="2">
                  <c:v>20</c:v>
                </c:pt>
                <c:pt idx="3">
                  <c:v>20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v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777240"/>
            <a:ext cx="651967" cy="651967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57807" y="740664"/>
            <a:ext cx="2926080" cy="7434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Hanken Grotesk"/>
              </a:rPr>
              <a:t>WirkVektor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2871216"/>
            <a:ext cx="310896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98448" y="2779776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Inter"/>
              </a:rPr>
              <a:t>KI-BERATUNG FÜR DEN MITTELSTAND · STRATEGIE, GOVERNANCE, WIRKUNG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154680"/>
            <a:ext cx="1050919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5400" b="1">
                <a:solidFill>
                  <a:srgbClr val="FFFFFF"/>
                </a:solidFill>
                <a:latin typeface="Hanken Grotesk"/>
              </a:rPr>
              <a:t>Die Architektur</a:t>
            </a:r>
          </a:p>
          <a:p>
            <a:pPr algn="l">
              <a:lnSpc>
                <a:spcPct val="102000"/>
              </a:lnSpc>
            </a:pPr>
            <a:r>
              <a:rPr sz="5400" b="1">
                <a:solidFill>
                  <a:srgbClr val="FFFFFF"/>
                </a:solidFill>
                <a:latin typeface="Hanken Grotesk"/>
              </a:rPr>
              <a:t>wirksamer KI.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5532120"/>
            <a:ext cx="1005840" cy="6400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5715000"/>
            <a:ext cx="105091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7D0DE"/>
                </a:solidFill>
                <a:latin typeface="Inter"/>
              </a:rPr>
              <a:t>Ihr Vektor zur wirkungsvollen KI.</a:t>
            </a:r>
          </a:p>
        </p:txBody>
      </p:sp>
      <p:sp>
        <p:nvSpPr>
          <p:cNvPr id="9" name="Chevron 8"/>
          <p:cNvSpPr/>
          <p:nvPr/>
        </p:nvSpPr>
        <p:spPr>
          <a:xfrm>
            <a:off x="9814255" y="3383280"/>
            <a:ext cx="1463040" cy="457200"/>
          </a:xfrm>
          <a:prstGeom prst="chevron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v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777240"/>
            <a:ext cx="623620" cy="6236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29460" y="740664"/>
            <a:ext cx="2926080" cy="7150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Hanken Grotesk"/>
              </a:rPr>
              <a:t>WirkVektor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28712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98448" y="2779776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PRÄSENTATIONSTITEL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154680"/>
            <a:ext cx="1050919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5000" b="1">
                <a:solidFill>
                  <a:srgbClr val="0F172A"/>
                </a:solidFill>
                <a:latin typeface="Hanken Grotesk"/>
              </a:rPr>
              <a:t>Aussagekräftiger</a:t>
            </a:r>
          </a:p>
          <a:p>
            <a:pPr algn="l">
              <a:lnSpc>
                <a:spcPct val="102000"/>
              </a:lnSpc>
            </a:pPr>
            <a:r>
              <a:rPr sz="5000" b="1">
                <a:solidFill>
                  <a:srgbClr val="0F172A"/>
                </a:solidFill>
                <a:latin typeface="Hanken Grotesk"/>
              </a:rPr>
              <a:t>Titel der Präsentation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486400"/>
            <a:ext cx="105091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Inter"/>
              </a:rPr>
              <a:t>Untertitel · Anlass · Datum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250545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2414016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KAPITELÜBERSCHRIFT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788920"/>
            <a:ext cx="1050919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Hanken Grotesk"/>
              </a:rPr>
              <a:t>Klarer Titel in einer Zeile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886200"/>
            <a:ext cx="776599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475569"/>
                </a:solidFill>
                <a:latin typeface="Inter"/>
              </a:rPr>
              <a:t>Ein knapper, sachlicher Untertitel, der den Inhalt der folgenden Folien einordnet.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A"/>
                </a:solidFill>
                <a:latin typeface="Hanken Grotesk"/>
              </a:rPr>
              <a:t>Inhalt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286000"/>
            <a:ext cx="731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Hanken Grotesk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2286000"/>
            <a:ext cx="968623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0F172A"/>
                </a:solidFill>
                <a:latin typeface="Inter"/>
              </a:rPr>
              <a:t>Ausgangslage und Ziel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2834640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944368"/>
            <a:ext cx="731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Hanken Grotesk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4208" y="2944368"/>
            <a:ext cx="968623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0F172A"/>
                </a:solidFill>
                <a:latin typeface="Inter"/>
              </a:rPr>
              <a:t>KI-Readiness im Überblick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3493008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3602735"/>
            <a:ext cx="731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Hanken Grotesk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3602735"/>
            <a:ext cx="968623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0F172A"/>
                </a:solidFill>
                <a:latin typeface="Inter"/>
              </a:rPr>
              <a:t>Priorisierte Use Cases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4151375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261103"/>
            <a:ext cx="731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Hanken Grotesk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4261103"/>
            <a:ext cx="968623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0F172A"/>
                </a:solidFill>
                <a:latin typeface="Inter"/>
              </a:rPr>
              <a:t>Governance und EU AI Act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" y="4809743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4919471"/>
            <a:ext cx="731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Hanken Grotesk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8" y="4919471"/>
            <a:ext cx="968623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0F172A"/>
                </a:solidFill>
                <a:latin typeface="Inter"/>
              </a:rPr>
              <a:t>Umsetzungsfahrplan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" y="5468111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577839"/>
            <a:ext cx="731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Hanken Grotesk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8" y="5577839"/>
            <a:ext cx="968623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0F172A"/>
                </a:solidFill>
                <a:latin typeface="Inter"/>
              </a:rPr>
              <a:t>Nächste Schritte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" y="6126479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04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2194560"/>
            <a:ext cx="3657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>
                <a:solidFill>
                  <a:srgbClr val="1E2A44"/>
                </a:solidFill>
                <a:latin typeface="Hanken Grotesk"/>
              </a:rPr>
              <a:t>01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4059936"/>
            <a:ext cx="310896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8448" y="396849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Inter"/>
              </a:rPr>
              <a:t>ABSCHNITT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343400"/>
            <a:ext cx="1050919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Hanken Grotesk"/>
              </a:rPr>
              <a:t>Titel des Abschnitts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5577840"/>
            <a:ext cx="1005840" cy="6400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948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2788920"/>
            <a:ext cx="310896" cy="91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2697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ABSCHNITT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063240"/>
            <a:ext cx="1050919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Hanken Grotesk"/>
              </a:rPr>
              <a:t>Wirkung beginnt mit Klarheit.</a:t>
            </a:r>
          </a:p>
        </p:txBody>
      </p:sp>
      <p:pic>
        <p:nvPicPr>
          <p:cNvPr id="5" name="Picture 4" descr="wv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5852160"/>
            <a:ext cx="510235" cy="51023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16075" y="5815584"/>
            <a:ext cx="2926080" cy="601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Hanken Grotesk"/>
              </a:rPr>
              <a:t>WirkVektor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AUSGANGSLAGE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Eine prägnante Kernaussage als Überschrift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468880"/>
            <a:ext cx="8223199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475569"/>
                </a:solidFill>
                <a:latin typeface="Inter"/>
              </a:rPr>
              <a:t>Der einleitende Absatz fasst den Kontext sachlich zusammen. Er bleibt konkret und belegbar, ohne Übertreibung.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475569"/>
                </a:solidFill>
                <a:latin typeface="Inter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475569"/>
                </a:solidFill>
                <a:latin typeface="Inter"/>
              </a:rPr>
              <a:t>Ein zweiter Absatz vertieft den Gedanken oder benennt die Konsequenz für das Unternehmen.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ZWEI SPALTEN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Gegenüberstellung in zwei Spalten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2286000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468880"/>
            <a:ext cx="4980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Hanken Grotesk"/>
              </a:rPr>
              <a:t>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017520"/>
            <a:ext cx="4980279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475569"/>
                </a:solidFill>
                <a:latin typeface="Inter"/>
              </a:rPr>
              <a:t>Beschreibung der aktuellen Situation in zwei bis drei Sätzen. Sachlich und konkret.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70167" y="2286000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0167" y="2468880"/>
            <a:ext cx="4980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Hanken Grotesk"/>
              </a:rPr>
              <a:t>Mit WirkVektor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0167" y="3017520"/>
            <a:ext cx="4980279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475569"/>
                </a:solidFill>
                <a:latin typeface="Inter"/>
              </a:rPr>
              <a:t>Beschreibung des angestrebten Zustands. Der Nutzen wird messbar und nachvollziehbar.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08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DREI KARTEN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Drei Bausteine im Überblick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286000"/>
            <a:ext cx="3198266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207008" y="26517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7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44168" y="2788920"/>
            <a:ext cx="182880" cy="18288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8" y="3383280"/>
            <a:ext cx="246674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Hanken Grotesk"/>
              </a:rPr>
              <a:t>Strategie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3886200"/>
            <a:ext cx="2466746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475569"/>
                </a:solidFill>
                <a:latin typeface="Inter"/>
              </a:rPr>
              <a:t>Use Cases identifizieren und nach Wirkung priorisieren.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96714" y="2286000"/>
            <a:ext cx="3198266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862474" y="26517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7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99634" y="2788920"/>
            <a:ext cx="182880" cy="18288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62474" y="3383280"/>
            <a:ext cx="246674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Hanken Grotesk"/>
              </a:rPr>
              <a:t>Governance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2474" y="3886200"/>
            <a:ext cx="2466746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475569"/>
                </a:solidFill>
                <a:latin typeface="Inter"/>
              </a:rPr>
              <a:t>EU AI Act, Sicherheit und Datenschutz von Anfang 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2180" y="2286000"/>
            <a:ext cx="3198266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517940" y="26517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7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55100" y="2788920"/>
            <a:ext cx="182880" cy="18288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17940" y="3383280"/>
            <a:ext cx="246674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Hanken Grotesk"/>
              </a:rPr>
              <a:t>Wirkung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17940" y="3886200"/>
            <a:ext cx="2466746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475569"/>
                </a:solidFill>
                <a:latin typeface="Inter"/>
              </a:rPr>
              <a:t>Piloten produktiv führen und den Nutzen messen.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Inter"/>
              </a:rPr>
              <a:t>ZIELGRUPPEN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Hanken Grotesk"/>
              </a:rPr>
              <a:t>Vier Rollen, ein Ziel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377440"/>
            <a:ext cx="2352979" cy="2560320"/>
          </a:xfrm>
          <a:prstGeom prst="roundRect">
            <a:avLst>
              <a:gd name="adj" fmla="val 6000"/>
            </a:avLst>
          </a:prstGeom>
          <a:solidFill>
            <a:srgbClr val="111E34"/>
          </a:solidFill>
          <a:ln w="12700">
            <a:solidFill>
              <a:srgbClr val="263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2651760"/>
            <a:ext cx="18043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2D3EE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3063240"/>
            <a:ext cx="18043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FFFFFF"/>
                </a:solidFill>
                <a:latin typeface="Hanken Grotesk"/>
              </a:rPr>
              <a:t>Geschäftsführung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4160520"/>
            <a:ext cx="18043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A9B4C7"/>
                </a:solidFill>
                <a:latin typeface="Inter"/>
              </a:rPr>
              <a:t>Wirtschaftlicher Nutzen und Steuerung.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59987" y="2377440"/>
            <a:ext cx="2352979" cy="2560320"/>
          </a:xfrm>
          <a:prstGeom prst="roundRect">
            <a:avLst>
              <a:gd name="adj" fmla="val 6000"/>
            </a:avLst>
          </a:prstGeom>
          <a:solidFill>
            <a:srgbClr val="111E34"/>
          </a:solidFill>
          <a:ln w="12700">
            <a:solidFill>
              <a:srgbClr val="263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34307" y="2651760"/>
            <a:ext cx="18043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2D3EE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34307" y="3063240"/>
            <a:ext cx="18043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FFFFFF"/>
                </a:solidFill>
                <a:latin typeface="Hanken Grotesk"/>
              </a:rPr>
              <a:t>IT-Leitung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34307" y="4160520"/>
            <a:ext cx="18043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A9B4C7"/>
                </a:solidFill>
                <a:latin typeface="Inter"/>
              </a:rPr>
              <a:t>Architektur, Integration, Betrieb.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2377440"/>
            <a:ext cx="2352979" cy="2560320"/>
          </a:xfrm>
          <a:prstGeom prst="roundRect">
            <a:avLst>
              <a:gd name="adj" fmla="val 6000"/>
            </a:avLst>
          </a:prstGeom>
          <a:solidFill>
            <a:srgbClr val="111E34"/>
          </a:solidFill>
          <a:ln w="12700">
            <a:solidFill>
              <a:srgbClr val="263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3047" y="2651760"/>
            <a:ext cx="18043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2D3EE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047" y="3063240"/>
            <a:ext cx="18043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FFFFFF"/>
                </a:solidFill>
                <a:latin typeface="Hanken Grotesk"/>
              </a:rPr>
              <a:t>Sicherheit &amp; Datenschutz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047" y="4160520"/>
            <a:ext cx="18043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A9B4C7"/>
                </a:solidFill>
                <a:latin typeface="Inter"/>
              </a:rPr>
              <a:t>Compliance und Kontrolle.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97467" y="2377440"/>
            <a:ext cx="2352979" cy="2560320"/>
          </a:xfrm>
          <a:prstGeom prst="roundRect">
            <a:avLst>
              <a:gd name="adj" fmla="val 6000"/>
            </a:avLst>
          </a:prstGeom>
          <a:solidFill>
            <a:srgbClr val="111E34"/>
          </a:solidFill>
          <a:ln w="12700">
            <a:solidFill>
              <a:srgbClr val="263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71787" y="2651760"/>
            <a:ext cx="18043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2D3EE"/>
                </a:solidFill>
                <a:latin typeface="Inter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71787" y="3063240"/>
            <a:ext cx="18043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FFFFFF"/>
                </a:solidFill>
                <a:latin typeface="Hanken Grotesk"/>
              </a:rPr>
              <a:t>Fachbereiche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71787" y="4160520"/>
            <a:ext cx="18043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A9B4C7"/>
                </a:solidFill>
                <a:latin typeface="Inter"/>
              </a:rPr>
              <a:t>Use Cases aus der Praxis.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263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AUFZÄHLUNG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Kernpunkte mit Akzent-Marker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2450592"/>
            <a:ext cx="146304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2331720"/>
            <a:ext cx="101434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0F172A"/>
                </a:solidFill>
                <a:latin typeface="Inter"/>
              </a:rPr>
              <a:t>Sachliche, belegbare Aussage als erster Punkt.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3017520"/>
            <a:ext cx="146304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8" y="2898648"/>
            <a:ext cx="101434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0F172A"/>
                </a:solidFill>
                <a:latin typeface="Inter"/>
              </a:rPr>
              <a:t>Jeder Punkt steht für genau einen Gedanken.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584448"/>
            <a:ext cx="146304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3465576"/>
            <a:ext cx="101434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0F172A"/>
                </a:solidFill>
                <a:latin typeface="Inter"/>
              </a:rPr>
              <a:t>Der Teal-Marker ersetzt klassische Bullet-Punkte.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4151376"/>
            <a:ext cx="146304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07008" y="4032504"/>
            <a:ext cx="101434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0F172A"/>
                </a:solidFill>
                <a:latin typeface="Inter"/>
              </a:rPr>
              <a:t>Konsistente Abstände sorgen für ruhiges Schriftbild.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4718304"/>
            <a:ext cx="146304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4599432"/>
            <a:ext cx="101434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0F172A"/>
                </a:solidFill>
                <a:latin typeface="Inter"/>
              </a:rPr>
              <a:t>Maximal fünf bis sechs Punkte pro Folie.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11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1463040"/>
            <a:ext cx="1828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>
                <a:solidFill>
                  <a:srgbClr val="0D9488"/>
                </a:solidFill>
                <a:latin typeface="Hanken Grotesk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2560320"/>
            <a:ext cx="1050919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FFFFF"/>
                </a:solidFill>
                <a:latin typeface="Hanken Grotesk"/>
              </a:rPr>
              <a:t>KI entfaltet erst dann Wirkung, wenn sie kontrolliert, regelkonform und messbar in die Praxis kommt.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5029200"/>
            <a:ext cx="457200" cy="457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81328" y="4846320"/>
            <a:ext cx="105091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2D3EE"/>
                </a:solidFill>
                <a:latin typeface="Inter"/>
              </a:rPr>
              <a:t>Sebastian Schucht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5138928"/>
            <a:ext cx="105091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9B4C7"/>
                </a:solidFill>
                <a:latin typeface="Inter"/>
              </a:rPr>
              <a:t>Gründer &amp; Geschäftsführer, WirkVektor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BEGRIFF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188720"/>
            <a:ext cx="105091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Hanken Grotesk"/>
              </a:rPr>
              <a:t>KI-Governance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560320"/>
            <a:ext cx="10509199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1248" y="2560320"/>
            <a:ext cx="82296" cy="219456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9888" y="2926080"/>
            <a:ext cx="9411919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b="0">
                <a:solidFill>
                  <a:srgbClr val="475569"/>
                </a:solidFill>
                <a:latin typeface="Inter"/>
              </a:rPr>
              <a:t>Der organisatorische Rahmen aus Regeln, Rollen und Kontrollen, der sicherstellt, dass KI im Unternehmen regelkonform, sicher und nachvollziehbar eingesetzt wird — Grundlage für EU-AI-Act-Konformität.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EMPFEHLUNG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Was zählt — und was schadet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286000"/>
            <a:ext cx="4980279" cy="2743200"/>
          </a:xfrm>
          <a:prstGeom prst="roundRect">
            <a:avLst>
              <a:gd name="adj" fmla="val 6000"/>
            </a:avLst>
          </a:prstGeom>
          <a:solidFill>
            <a:srgbClr val="E7F4F2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2560320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D9488"/>
                </a:solidFill>
                <a:latin typeface="Inter"/>
              </a:rPr>
              <a:t>EMPFOHLEN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3063240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F172A"/>
                </a:solidFill>
                <a:latin typeface="Inter"/>
              </a:rPr>
              <a:t>+  Use Cases nach Wirkung priorisieren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3520440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F172A"/>
                </a:solidFill>
                <a:latin typeface="Inter"/>
              </a:rPr>
              <a:t>+  Governance früh verankern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3977639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F172A"/>
                </a:solidFill>
                <a:latin typeface="Inter"/>
              </a:rPr>
              <a:t>+  Mitarbeitende befähigen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8" y="4434840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F172A"/>
                </a:solidFill>
                <a:latin typeface="Inter"/>
              </a:rPr>
              <a:t>+  Nutzen messbar machen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70167" y="2286000"/>
            <a:ext cx="4980279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560320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Inter"/>
              </a:rPr>
              <a:t>VERMEIDEN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063240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Inter"/>
              </a:rPr>
              <a:t>–  Tools ohne Strategie einführen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5927" y="3520440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Inter"/>
              </a:rPr>
              <a:t>–  Governance nachträglich anbauen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35927" y="3977639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Inter"/>
              </a:rPr>
              <a:t>–  Teams außen vor lassen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5927" y="4434840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Inter"/>
              </a:rPr>
              <a:t>–  Wirkung nicht überprüfen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14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WIRKUNG IN ZAHLEN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Kennzahlen mit Fortschrittsbalken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468880"/>
            <a:ext cx="319826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0D9488"/>
                </a:solidFill>
                <a:latin typeface="Hanken Grotesk"/>
              </a:rPr>
              <a:t>68 %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3657600"/>
            <a:ext cx="3198266" cy="11887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41248" y="3657600"/>
            <a:ext cx="2174821" cy="118872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3931920"/>
            <a:ext cx="319826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Inter"/>
              </a:rPr>
              <a:t>der Unternehmen ohne KI-Governance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6714" y="2468880"/>
            <a:ext cx="319826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0D9488"/>
                </a:solidFill>
                <a:latin typeface="Hanken Grotesk"/>
              </a:rPr>
              <a:t>3×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96714" y="3657600"/>
            <a:ext cx="3198266" cy="11887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96714" y="3657600"/>
            <a:ext cx="2718526" cy="118872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6714" y="3931920"/>
            <a:ext cx="319826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Inter"/>
              </a:rPr>
              <a:t>schnellere Use-Case-Auswahl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2180" y="2468880"/>
            <a:ext cx="319826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0D9488"/>
                </a:solidFill>
                <a:latin typeface="Hanken Grotesk"/>
              </a:rPr>
              <a:t>–40 %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2180" y="3657600"/>
            <a:ext cx="3198266" cy="11887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52180" y="3657600"/>
            <a:ext cx="1279306" cy="118872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2180" y="3931920"/>
            <a:ext cx="319826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Inter"/>
              </a:rPr>
              <a:t>Aufwand durch klare Priorisierung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5212080"/>
            <a:ext cx="105091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Inter"/>
              </a:rPr>
              <a:t>Beispielwerte — vor Nutzung mit belegten Quellen ersetzen.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15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VORGEHEN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Vier Schritte zum Ergebnis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3520440"/>
            <a:ext cx="10143439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71967" y="2743200"/>
            <a:ext cx="822960" cy="822960"/>
          </a:xfrm>
          <a:prstGeom prst="ellipse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1967" y="274320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Hanken Grotesk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794760"/>
            <a:ext cx="22843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Hanken Grotesk"/>
              </a:rPr>
              <a:t>Analyse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251960"/>
            <a:ext cx="22843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Inter"/>
              </a:rPr>
              <a:t>Kurze Beschreibung des Schritts in einem Satz.</a:t>
            </a:r>
          </a:p>
        </p:txBody>
      </p:sp>
      <p:sp>
        <p:nvSpPr>
          <p:cNvPr id="10" name="Chevron 9"/>
          <p:cNvSpPr/>
          <p:nvPr/>
        </p:nvSpPr>
        <p:spPr>
          <a:xfrm>
            <a:off x="3189655" y="3035808"/>
            <a:ext cx="292608" cy="237744"/>
          </a:xfrm>
          <a:prstGeom prst="chevron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13567" y="2743200"/>
            <a:ext cx="822960" cy="822960"/>
          </a:xfrm>
          <a:prstGeom prst="ellipse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3567" y="274320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Hanken Grotesk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2847" y="3794760"/>
            <a:ext cx="22843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Hanken Grotesk"/>
              </a:rPr>
              <a:t>Konzept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2847" y="4251960"/>
            <a:ext cx="22843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Inter"/>
              </a:rPr>
              <a:t>Kurze Beschreibung des Schritts in einem Satz.</a:t>
            </a:r>
          </a:p>
        </p:txBody>
      </p:sp>
      <p:sp>
        <p:nvSpPr>
          <p:cNvPr id="15" name="Chevron 14"/>
          <p:cNvSpPr/>
          <p:nvPr/>
        </p:nvSpPr>
        <p:spPr>
          <a:xfrm>
            <a:off x="5931255" y="3035808"/>
            <a:ext cx="292608" cy="237744"/>
          </a:xfrm>
          <a:prstGeom prst="chevron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055167" y="2743200"/>
            <a:ext cx="822960" cy="822960"/>
          </a:xfrm>
          <a:prstGeom prst="ellipse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5167" y="274320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Hanken Grotesk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4447" y="3794760"/>
            <a:ext cx="22843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Hanken Grotesk"/>
              </a:rPr>
              <a:t>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4447" y="4251960"/>
            <a:ext cx="22843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Inter"/>
              </a:rPr>
              <a:t>Kurze Beschreibung des Schritts in einem Satz.</a:t>
            </a:r>
          </a:p>
        </p:txBody>
      </p:sp>
      <p:sp>
        <p:nvSpPr>
          <p:cNvPr id="20" name="Chevron 19"/>
          <p:cNvSpPr/>
          <p:nvPr/>
        </p:nvSpPr>
        <p:spPr>
          <a:xfrm>
            <a:off x="8672855" y="3035808"/>
            <a:ext cx="292608" cy="237744"/>
          </a:xfrm>
          <a:prstGeom prst="chevron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796767" y="2743200"/>
            <a:ext cx="822960" cy="822960"/>
          </a:xfrm>
          <a:prstGeom prst="ellipse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96767" y="274320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Hanken Grotesk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6047" y="3794760"/>
            <a:ext cx="22843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Hanken Grotesk"/>
              </a:rPr>
              <a:t>Skalierung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6047" y="4251960"/>
            <a:ext cx="22843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Inter"/>
              </a:rPr>
              <a:t>Kurze Beschreibung des Schritts in einem Satz.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16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METHODIK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F172A"/>
                </a:solidFill>
                <a:latin typeface="Hanken Grotesk"/>
              </a:rPr>
              <a:t>Die 6 Phasen der WirkVektor-Methodik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240280"/>
            <a:ext cx="3289706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2468880"/>
            <a:ext cx="1097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9488"/>
                </a:solidFill>
                <a:latin typeface="Hanken Grotesk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47088" y="2496312"/>
            <a:ext cx="210098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Hanken Grotesk"/>
              </a:rPr>
              <a:t>Verstehen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3017520"/>
            <a:ext cx="274106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475569"/>
                </a:solidFill>
                <a:latin typeface="Inter"/>
              </a:rPr>
              <a:t>Kontext, Ziele und Status quo erfassen.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50994" y="2240280"/>
            <a:ext cx="3289706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1034" y="2468880"/>
            <a:ext cx="1097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9488"/>
                </a:solidFill>
                <a:latin typeface="Hanken Grotesk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56834" y="2496312"/>
            <a:ext cx="210098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Hanken Grotesk"/>
              </a:rPr>
              <a:t>Bewerten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1034" y="3017520"/>
            <a:ext cx="274106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475569"/>
                </a:solidFill>
                <a:latin typeface="Inter"/>
              </a:rPr>
              <a:t>Daten, Prozesse und Reifegrad einschätzen.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0740" y="2240280"/>
            <a:ext cx="3289706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0780" y="2468880"/>
            <a:ext cx="1097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9488"/>
                </a:solidFill>
                <a:latin typeface="Hanken Grotesk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66580" y="2496312"/>
            <a:ext cx="210098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Hanken Grotesk"/>
              </a:rPr>
              <a:t>Priorisieren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0780" y="3017520"/>
            <a:ext cx="274106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475569"/>
                </a:solidFill>
                <a:latin typeface="Inter"/>
              </a:rPr>
              <a:t>Use Cases nach Nutzen, Aufwand und Risiko ordnen.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" y="4023360"/>
            <a:ext cx="3289706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61288" y="4251960"/>
            <a:ext cx="1097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9488"/>
                </a:solidFill>
                <a:latin typeface="Hanken Grotesk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47088" y="4279392"/>
            <a:ext cx="210098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Hanken Grotesk"/>
              </a:rPr>
              <a:t>Absichern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1288" y="4800600"/>
            <a:ext cx="274106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475569"/>
                </a:solidFill>
                <a:latin typeface="Inter"/>
              </a:rPr>
              <a:t>Governance, EU AI Act und Sicherheit verankern.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50994" y="4023360"/>
            <a:ext cx="3289706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71034" y="4251960"/>
            <a:ext cx="1097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9488"/>
                </a:solidFill>
                <a:latin typeface="Hanken Grotesk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56834" y="4279392"/>
            <a:ext cx="210098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Hanken Grotesk"/>
              </a:rPr>
              <a:t>Umsetzen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71034" y="4800600"/>
            <a:ext cx="274106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475569"/>
                </a:solidFill>
                <a:latin typeface="Inter"/>
              </a:rPr>
              <a:t>Piloten produktiv und kontrolliert einführen.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60740" y="4023360"/>
            <a:ext cx="3289706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80780" y="4251960"/>
            <a:ext cx="1097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9488"/>
                </a:solidFill>
                <a:latin typeface="Hanken Grotesk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66580" y="4279392"/>
            <a:ext cx="210098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Hanken Grotesk"/>
              </a:rPr>
              <a:t>Messen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0780" y="4800600"/>
            <a:ext cx="274106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475569"/>
                </a:solidFill>
                <a:latin typeface="Inter"/>
              </a:rPr>
              <a:t>Wirkung messen und kontinuierlich verbessern.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17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FAHRPLAN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Umsetzung über vier Quartale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3108960"/>
            <a:ext cx="10509199" cy="2743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1248" y="3017520"/>
            <a:ext cx="201168" cy="201168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423160"/>
            <a:ext cx="26272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Hanken Grotesk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383279"/>
            <a:ext cx="22615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75569"/>
                </a:solidFill>
                <a:latin typeface="Inter"/>
              </a:rPr>
              <a:t>Readiness &amp; Strategie</a:t>
            </a:r>
          </a:p>
        </p:txBody>
      </p:sp>
      <p:sp>
        <p:nvSpPr>
          <p:cNvPr id="9" name="Oval 8"/>
          <p:cNvSpPr/>
          <p:nvPr/>
        </p:nvSpPr>
        <p:spPr>
          <a:xfrm>
            <a:off x="3468547" y="3017520"/>
            <a:ext cx="201168" cy="201168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8547" y="2423160"/>
            <a:ext cx="26272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Hanken Grotesk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8547" y="3383279"/>
            <a:ext cx="22615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75569"/>
                </a:solidFill>
                <a:latin typeface="Inter"/>
              </a:rPr>
              <a:t>Use-Case-Sprint</a:t>
            </a:r>
          </a:p>
        </p:txBody>
      </p:sp>
      <p:sp>
        <p:nvSpPr>
          <p:cNvPr id="12" name="Oval 11"/>
          <p:cNvSpPr/>
          <p:nvPr/>
        </p:nvSpPr>
        <p:spPr>
          <a:xfrm>
            <a:off x="6095847" y="3017520"/>
            <a:ext cx="201168" cy="201168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5847" y="2423160"/>
            <a:ext cx="26272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Hanken Grotesk"/>
              </a:rPr>
              <a:t>Q3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5847" y="3383279"/>
            <a:ext cx="22615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75569"/>
                </a:solidFill>
                <a:latin typeface="Inter"/>
              </a:rPr>
              <a:t>Governance &amp; Pilot</a:t>
            </a:r>
          </a:p>
        </p:txBody>
      </p:sp>
      <p:sp>
        <p:nvSpPr>
          <p:cNvPr id="15" name="Oval 14"/>
          <p:cNvSpPr/>
          <p:nvPr/>
        </p:nvSpPr>
        <p:spPr>
          <a:xfrm>
            <a:off x="8723147" y="3017520"/>
            <a:ext cx="201168" cy="201168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23147" y="2423160"/>
            <a:ext cx="26272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F172A"/>
                </a:solidFill>
                <a:latin typeface="Hanken Grotesk"/>
              </a:rPr>
              <a:t>Q4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23147" y="3383279"/>
            <a:ext cx="22615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75569"/>
                </a:solidFill>
                <a:latin typeface="Inter"/>
              </a:rPr>
              <a:t>Skalierung &amp; Messung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18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PRIORISIERUNG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Nutzen-Aufwand-Matrix</a:t>
            </a:r>
          </a:p>
        </p:txBody>
      </p:sp>
      <p:sp>
        <p:nvSpPr>
          <p:cNvPr id="5" name="Rectangle 4"/>
          <p:cNvSpPr/>
          <p:nvPr/>
        </p:nvSpPr>
        <p:spPr>
          <a:xfrm>
            <a:off x="1755648" y="2286000"/>
            <a:ext cx="310896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755648" y="2286000"/>
            <a:ext cx="1554480" cy="1554480"/>
          </a:xfrm>
          <a:prstGeom prst="rect">
            <a:avLst/>
          </a:prstGeom>
          <a:solidFill>
            <a:srgbClr val="E7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310128" y="2286000"/>
            <a:ext cx="10972" cy="31089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755648" y="3840480"/>
            <a:ext cx="3108960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38528" y="2468880"/>
            <a:ext cx="118871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D9488"/>
                </a:solidFill>
                <a:latin typeface="Inter"/>
              </a:rPr>
              <a:t>Quick Wins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286000"/>
            <a:ext cx="822960" cy="3108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475569"/>
                </a:solidFill>
                <a:latin typeface="Inter"/>
              </a:rPr>
              <a:t>NUTZEN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55648" y="553212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475569"/>
                </a:solidFill>
                <a:latin typeface="Inter"/>
              </a:rPr>
              <a:t>AUFWAND →</a:t>
            </a:r>
          </a:p>
        </p:txBody>
      </p:sp>
      <p:sp>
        <p:nvSpPr>
          <p:cNvPr id="12" name="Oval 11"/>
          <p:cNvSpPr/>
          <p:nvPr/>
        </p:nvSpPr>
        <p:spPr>
          <a:xfrm>
            <a:off x="2578608" y="3017520"/>
            <a:ext cx="310896" cy="310896"/>
          </a:xfrm>
          <a:prstGeom prst="ellipse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78608" y="301752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Inter"/>
              </a:rPr>
              <a:t>A</a:t>
            </a:r>
          </a:p>
        </p:txBody>
      </p:sp>
      <p:sp>
        <p:nvSpPr>
          <p:cNvPr id="14" name="Oval 13"/>
          <p:cNvSpPr/>
          <p:nvPr/>
        </p:nvSpPr>
        <p:spPr>
          <a:xfrm>
            <a:off x="3950208" y="3383280"/>
            <a:ext cx="310896" cy="310896"/>
          </a:xfrm>
          <a:prstGeom prst="ellipse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50208" y="338328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Inter"/>
              </a:rPr>
              <a:t>B</a:t>
            </a:r>
          </a:p>
        </p:txBody>
      </p:sp>
      <p:sp>
        <p:nvSpPr>
          <p:cNvPr id="16" name="Oval 15"/>
          <p:cNvSpPr/>
          <p:nvPr/>
        </p:nvSpPr>
        <p:spPr>
          <a:xfrm>
            <a:off x="3035808" y="4480560"/>
            <a:ext cx="310896" cy="310896"/>
          </a:xfrm>
          <a:prstGeom prst="ellipse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35808" y="44805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Inter"/>
              </a:rPr>
              <a:t>C</a:t>
            </a:r>
          </a:p>
        </p:txBody>
      </p:sp>
      <p:sp>
        <p:nvSpPr>
          <p:cNvPr id="18" name="Oval 17"/>
          <p:cNvSpPr/>
          <p:nvPr/>
        </p:nvSpPr>
        <p:spPr>
          <a:xfrm>
            <a:off x="4224528" y="4754880"/>
            <a:ext cx="310896" cy="310896"/>
          </a:xfrm>
          <a:prstGeom prst="ellipse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24528" y="475488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Inter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96128" y="2377440"/>
            <a:ext cx="57543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94A3B8"/>
                </a:solidFill>
                <a:latin typeface="Inter"/>
              </a:rPr>
              <a:t>USE CASES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96128" y="2834640"/>
            <a:ext cx="57543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0F172A"/>
                </a:solidFill>
                <a:latin typeface="Inter"/>
              </a:rPr>
              <a:t>A — Dokumenten-Assistent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96128" y="3291840"/>
            <a:ext cx="57543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0F172A"/>
                </a:solidFill>
                <a:latin typeface="Inter"/>
              </a:rPr>
              <a:t>B — Angebotsgenerierung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6128" y="3749039"/>
            <a:ext cx="57543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0F172A"/>
                </a:solidFill>
                <a:latin typeface="Inter"/>
              </a:rPr>
              <a:t>C — Wissensdatenbank (RAG)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96128" y="4206240"/>
            <a:ext cx="57543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0F172A"/>
                </a:solidFill>
                <a:latin typeface="Inter"/>
              </a:rPr>
              <a:t>D — Prozessautomatisierung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19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OPTIONEN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Zwei Pakete im Vergleich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286000"/>
            <a:ext cx="4980279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7008" y="2606040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7008" y="2788920"/>
            <a:ext cx="42487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Hanken Grotesk"/>
              </a:rPr>
              <a:t>KI-Readiness-Check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3429000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Inter"/>
              </a:rPr>
              <a:t>•  Standortbestimmung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3867912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Inter"/>
              </a:rPr>
              <a:t>•  2–3 Wochen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8" y="4306824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Inter"/>
              </a:rPr>
              <a:t>•  Management-Bericht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4745736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Inter"/>
              </a:rPr>
              <a:t>•  Roadmap-Skizze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70167" y="2286000"/>
            <a:ext cx="4980279" cy="310896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12700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735927" y="2606040"/>
            <a:ext cx="310896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35927" y="2788920"/>
            <a:ext cx="42487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Hanken Grotesk"/>
              </a:rPr>
              <a:t>Produktiver KI-Pilot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35927" y="3429000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C7D0DE"/>
                </a:solidFill>
                <a:latin typeface="Inter"/>
              </a:rPr>
              <a:t>•  Use Case live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5927" y="3867912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C7D0DE"/>
                </a:solidFill>
                <a:latin typeface="Inter"/>
              </a:rPr>
              <a:t>•  6–10 Wochen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4306824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C7D0DE"/>
                </a:solidFill>
                <a:latin typeface="Inter"/>
              </a:rPr>
              <a:t>•  Governance inklusive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5927" y="4745736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C7D0DE"/>
                </a:solidFill>
                <a:latin typeface="Inter"/>
              </a:rPr>
              <a:t>•  Wirkungsmessung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ÜBERSICHT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Tabelle im Markenstil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1248" y="2286000"/>
          <a:ext cx="1050919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7299"/>
                <a:gridCol w="2627299"/>
                <a:gridCol w="2627299"/>
                <a:gridCol w="2627302"/>
              </a:tblGrid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Inter"/>
                        </a:rPr>
                        <a:t>Use Case</a:t>
                      </a:r>
                    </a:p>
                  </a:txBody>
                  <a:tcPr anchor="ctr" marL="137160" marT="45720" marB="4572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Inter"/>
                        </a:rPr>
                        <a:t>Nutzen</a:t>
                      </a:r>
                    </a:p>
                  </a:txBody>
                  <a:tcPr anchor="ctr" marL="137160" marT="45720" marB="4572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Inter"/>
                        </a:rPr>
                        <a:t>Aufwand</a:t>
                      </a:r>
                    </a:p>
                  </a:txBody>
                  <a:tcPr anchor="ctr" marL="137160" marT="45720" marB="4572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Inter"/>
                        </a:rPr>
                        <a:t>Priorität</a:t>
                      </a:r>
                    </a:p>
                  </a:txBody>
                  <a:tcPr anchor="ctr" marL="137160" marT="45720" marB="45720">
                    <a:solidFill>
                      <a:srgbClr val="0F17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Inter"/>
                        </a:rPr>
                        <a:t>Dokumenten-Assistent</a:t>
                      </a:r>
                    </a:p>
                  </a:txBody>
                  <a:tcPr anchor="ctr" marL="13716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Inter"/>
                        </a:rPr>
                        <a:t>Hoch</a:t>
                      </a:r>
                    </a:p>
                  </a:txBody>
                  <a:tcPr anchor="ctr" marL="13716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Inter"/>
                        </a:rPr>
                        <a:t>Gering</a:t>
                      </a:r>
                    </a:p>
                  </a:txBody>
                  <a:tcPr anchor="ctr" marL="13716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anchor="ctr" marL="137160" marT="45720" marB="4572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Inter"/>
                        </a:rPr>
                        <a:t>Wissensdatenbank (RAG)</a:t>
                      </a:r>
                    </a:p>
                  </a:txBody>
                  <a:tcPr anchor="ctr" marL="13716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Inter"/>
                        </a:rPr>
                        <a:t>Hoch</a:t>
                      </a:r>
                    </a:p>
                  </a:txBody>
                  <a:tcPr anchor="ctr" marL="13716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Inter"/>
                        </a:rPr>
                        <a:t>Mittel</a:t>
                      </a:r>
                    </a:p>
                  </a:txBody>
                  <a:tcPr anchor="ctr" marL="13716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anchor="ctr" marL="137160" marT="45720" marB="45720">
                    <a:solidFill>
                      <a:srgbClr val="F7F9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Inter"/>
                        </a:rPr>
                        <a:t>Angebotsgenerierung</a:t>
                      </a:r>
                    </a:p>
                  </a:txBody>
                  <a:tcPr anchor="ctr" marL="13716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Inter"/>
                        </a:rPr>
                        <a:t>Mittel</a:t>
                      </a:r>
                    </a:p>
                  </a:txBody>
                  <a:tcPr anchor="ctr" marL="13716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Inter"/>
                        </a:rPr>
                        <a:t>Mittel</a:t>
                      </a:r>
                    </a:p>
                  </a:txBody>
                  <a:tcPr anchor="ctr" marL="13716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anchor="ctr" marL="137160" marT="45720" marB="4572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Inter"/>
                        </a:rPr>
                        <a:t>Prozessautomatisierung</a:t>
                      </a:r>
                    </a:p>
                  </a:txBody>
                  <a:tcPr anchor="ctr" marL="13716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Inter"/>
                        </a:rPr>
                        <a:t>Hoch</a:t>
                      </a:r>
                    </a:p>
                  </a:txBody>
                  <a:tcPr anchor="ctr" marL="13716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Inter"/>
                        </a:rPr>
                        <a:t>Hoch</a:t>
                      </a:r>
                    </a:p>
                  </a:txBody>
                  <a:tcPr anchor="ctr" marL="13716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anchor="ctr" marL="137160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AUSWERTUNG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Balkendiagramm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41248" y="2194560"/>
          <a:ext cx="10509199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22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VERTEILUNG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Ring-/Kreisdiagramm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41248" y="2103120"/>
          <a:ext cx="548640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23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971800"/>
            <a:ext cx="12191695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94A3B8"/>
                </a:solidFill>
                <a:latin typeface="Inter"/>
              </a:rPr>
              <a:t>[ Vollflächiges Bild ]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486400"/>
            <a:ext cx="12191695" cy="13716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5751576"/>
            <a:ext cx="310896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566013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Inter"/>
              </a:rPr>
              <a:t>BILDUNTERSCHRIFT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989320"/>
            <a:ext cx="1050919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Hanken Grotesk"/>
              </a:rPr>
              <a:t>Aussage zum Bild in einer prägnanten Zeile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6858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063240"/>
            <a:ext cx="609584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Inter"/>
              </a:rPr>
              <a:t>[ Bild ]</a:t>
            </a:r>
          </a:p>
        </p:txBody>
      </p:sp>
      <p:sp>
        <p:nvSpPr>
          <p:cNvPr id="4" name="Rectangle 3"/>
          <p:cNvSpPr/>
          <p:nvPr/>
        </p:nvSpPr>
        <p:spPr>
          <a:xfrm>
            <a:off x="6735927" y="186537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93127" y="177393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BILD + 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5927" y="2148840"/>
            <a:ext cx="461451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0F172A"/>
                </a:solidFill>
                <a:latin typeface="Hanken Grotesk"/>
              </a:rPr>
              <a:t>Bild links, Inhalt rechts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5927" y="3383280"/>
            <a:ext cx="461451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475569"/>
                </a:solidFill>
                <a:latin typeface="Inter"/>
              </a:rPr>
              <a:t>Dieses Layout kombiniert eine Bildfläche mit erläuterndem Text. Geeignet für Referenzen, Produktbilder oder Porträts.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LEISTUNGSPAKETE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Fünf standardisierte Pakete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377440"/>
            <a:ext cx="1882383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1248" y="2377440"/>
            <a:ext cx="1882383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" y="2697480"/>
            <a:ext cx="14251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D9488"/>
                </a:solidFill>
                <a:latin typeface="Hanken Grotesk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3200400"/>
            <a:ext cx="1425183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Hanken Grotesk"/>
              </a:rPr>
              <a:t>KI-Readiness-Check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97951" y="2377440"/>
            <a:ext cx="1882383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997951" y="2377440"/>
            <a:ext cx="1882383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26551" y="2697480"/>
            <a:ext cx="14251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D9488"/>
                </a:solidFill>
                <a:latin typeface="Hanken Grotesk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26551" y="3200400"/>
            <a:ext cx="1425183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Hanken Grotesk"/>
              </a:rPr>
              <a:t>KI-Use-Case-Sprint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4655" y="2377440"/>
            <a:ext cx="1882383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54655" y="2377440"/>
            <a:ext cx="1882383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83255" y="2697480"/>
            <a:ext cx="14251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D9488"/>
                </a:solidFill>
                <a:latin typeface="Hanken Grotesk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83255" y="3200400"/>
            <a:ext cx="1425183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Hanken Grotesk"/>
              </a:rPr>
              <a:t>KI-Governance-Starterpaket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1359" y="2377440"/>
            <a:ext cx="1882383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1359" y="2377440"/>
            <a:ext cx="1882383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39959" y="2697480"/>
            <a:ext cx="14251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D9488"/>
                </a:solidFill>
                <a:latin typeface="Hanken Grotesk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39959" y="3200400"/>
            <a:ext cx="1425183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Hanken Grotesk"/>
              </a:rPr>
              <a:t>AI-Literacy-Schulung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68063" y="2377440"/>
            <a:ext cx="1882383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468063" y="2377440"/>
            <a:ext cx="1882383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6663" y="2697480"/>
            <a:ext cx="14251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D9488"/>
                </a:solidFill>
                <a:latin typeface="Hanken Grotesk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6663" y="3200400"/>
            <a:ext cx="1425183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Hanken Grotesk"/>
              </a:rPr>
              <a:t>Produktiver KI-Pilot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27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81381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722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51560"/>
            <a:ext cx="1050919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Hanken Grotesk"/>
              </a:rPr>
              <a:t>Menschen hinter WirkVektor</a:t>
            </a:r>
          </a:p>
        </p:txBody>
      </p:sp>
      <p:pic>
        <p:nvPicPr>
          <p:cNvPr id="5" name="Picture 4" descr="sebastian-schuc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377440"/>
            <a:ext cx="2514600" cy="2514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01568" y="2468880"/>
            <a:ext cx="79488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Hanken Grotesk"/>
              </a:rPr>
              <a:t>Sebastian Schucht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01568" y="2926080"/>
            <a:ext cx="7948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D9488"/>
                </a:solidFill>
                <a:latin typeface="Inter"/>
              </a:rPr>
              <a:t>Gründer &amp; Geschäftsführer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1568" y="3383280"/>
            <a:ext cx="794887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475569"/>
                </a:solidFill>
                <a:latin typeface="Inter"/>
              </a:rPr>
              <a:t>Begleitet mittelständische Unternehmen bei der strukturierten Einführung von KI — vom ersten Use Case bis zum produktiven Betrieb. Hintergrund in Informationssicherheit und Datenschutz.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2910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WirkVektor — Ihr Vektor zur wirkungsvollen KI.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1647" y="62910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Inter"/>
              </a:rPr>
              <a:t>28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6181344"/>
            <a:ext cx="10509199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2048256"/>
            <a:ext cx="310896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98448" y="1956816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Inter"/>
              </a:rPr>
              <a:t>NÄCHSTER SCHRITT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331720"/>
            <a:ext cx="1050919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Hanken Grotesk"/>
              </a:rPr>
              <a:t>Lassen Sie uns Ihren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Hanken Grotesk"/>
              </a:rPr>
              <a:t>KI-Readiness-Check starten.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4297680"/>
            <a:ext cx="2743200" cy="64008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429768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Inter"/>
              </a:rPr>
              <a:t>Erstgespräch vereinbaren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50208" y="4297680"/>
            <a:ext cx="5486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C7D0DE"/>
                </a:solidFill>
                <a:latin typeface="Inter"/>
              </a:rPr>
              <a:t>kontakt@wirkvektor.de   ·   wirkvektor.de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v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822960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72768" y="786384"/>
            <a:ext cx="2926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Hanken Grotesk"/>
              </a:rPr>
              <a:t>WirkVektor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743200"/>
            <a:ext cx="1050919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Hanken Grotesk"/>
              </a:rPr>
              <a:t>Vielen Dank.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3977639"/>
            <a:ext cx="1005840" cy="6400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4297680"/>
            <a:ext cx="1050919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0DE"/>
                </a:solidFill>
                <a:latin typeface="Inter"/>
              </a:rPr>
              <a:t>Sebastian Schucht · Gründer &amp; Geschäftsführer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0DE"/>
                </a:solidFill>
                <a:latin typeface="Inter"/>
              </a:rPr>
              <a:t>kontakt@wirkvektor.de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0DE"/>
                </a:solidFill>
                <a:latin typeface="Inter"/>
              </a:rPr>
              <a:t>wirkvektor.de  ·  linkedin.com/in/sebastianschucht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2962656"/>
            <a:ext cx="310896" cy="914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8448" y="28712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D9488"/>
                </a:solidFill>
                <a:latin typeface="Inter"/>
              </a:rPr>
              <a:t>ANHANG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46120"/>
            <a:ext cx="105091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A"/>
                </a:solidFill>
                <a:latin typeface="Hanken Grotesk"/>
              </a:rPr>
              <a:t>Backup &amp; weiterführende Folien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WirkVektor — Master-Folien</dc:title>
  <dc:subject/>
  <dc:creator>WirkVektor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Vorlage</cp:category>
</cp:coreProperties>
</file>