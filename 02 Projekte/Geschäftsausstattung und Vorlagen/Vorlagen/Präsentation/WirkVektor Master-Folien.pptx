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Wirkung</c:v>
                </c:pt>
              </c:strCache>
            </c:strRef>
          </c:tx>
          <c:spPr>
            <a:solidFill>
              <a:srgbClr val="0D948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34</c:v>
                </c:pt>
                <c:pt idx="2">
                  <c:v>52</c:v>
                </c:pt>
                <c:pt idx="3">
                  <c:v>71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dPt>
            <c:idx val="0"/>
            <c:spPr>
              <a:solidFill>
                <a:srgbClr val="0F172A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94A3B8"/>
              </a:solidFill>
            </c:spPr>
          </c:dPt>
          <c:cat>
            <c:strRef>
              <c:f>Sheet1!$A$2:$A$5</c:f>
              <c:strCache>
                <c:ptCount val="4"/>
                <c:pt idx="0">
                  <c:v>Strategie</c:v>
                </c:pt>
                <c:pt idx="1">
                  <c:v>Governance</c:v>
                </c:pt>
                <c:pt idx="2">
                  <c:v>Befähigung</c:v>
                </c:pt>
                <c:pt idx="3">
                  <c:v>Betrieb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" y="777240"/>
            <a:ext cx="441655" cy="44165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25" b="1">
                <a:solidFill>
                  <a:srgbClr val="0F172A"/>
                </a:solidFill>
                <a:latin typeface="Hanken Grotesk"/>
              </a:rPr>
              <a:t>WV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29207" y="740664"/>
            <a:ext cx="2743200" cy="533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87121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277977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KI-BERATUNG FÜR DEN MITTELSTAND · STRATEGIE, GOVERNANCE, WIRKUNG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50919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Die Architektur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wirksamer KI.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532120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71500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7D0DE"/>
                </a:solidFill>
                <a:latin typeface="Inter"/>
              </a:rPr>
              <a:t>Ihr Vektor zur wirkungsvollen KI.</a:t>
            </a:r>
          </a:p>
        </p:txBody>
      </p:sp>
      <p:sp>
        <p:nvSpPr>
          <p:cNvPr id="9" name="Chevron 8"/>
          <p:cNvSpPr/>
          <p:nvPr/>
        </p:nvSpPr>
        <p:spPr>
          <a:xfrm>
            <a:off x="9814255" y="3383280"/>
            <a:ext cx="1463040" cy="4572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" y="777240"/>
            <a:ext cx="422452" cy="422452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50" b="1">
                <a:solidFill>
                  <a:srgbClr val="FFFFFF"/>
                </a:solidFill>
                <a:latin typeface="Hanken Grotesk"/>
              </a:rPr>
              <a:t>WV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0004" y="740664"/>
            <a:ext cx="2743200" cy="5138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WirkVektor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8712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277977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PRÄSENTATIONSTITEL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50919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>
                <a:solidFill>
                  <a:srgbClr val="0F172A"/>
                </a:solidFill>
                <a:latin typeface="Hanken Grotesk"/>
              </a:rPr>
              <a:t>Aussagekräftiger</a:t>
            </a:r>
          </a:p>
          <a:p>
            <a:pPr algn="l">
              <a:lnSpc>
                <a:spcPct val="102000"/>
              </a:lnSpc>
            </a:pPr>
            <a:r>
              <a:rPr sz="5000" b="1">
                <a:solidFill>
                  <a:srgbClr val="0F172A"/>
                </a:solidFill>
                <a:latin typeface="Hanken Grotesk"/>
              </a:rPr>
              <a:t>Titel der Präsentation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48640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Untertitel · Anlass · Datum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50545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2414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KAPITELÜBERSCHRIFT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78892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Hanken Grotesk"/>
              </a:rPr>
              <a:t>Klarer Titel in einer Zeile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86200"/>
            <a:ext cx="77659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Ein knapper, sachlicher Untertitel, der den Inhalt der folgenden Folien einordnet.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Hanken Grotesk"/>
              </a:rPr>
              <a:t>Inhalt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286000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2286000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Ausgangslage und Ziel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834640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944368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2944368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KI-Readiness im Überblick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493008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602735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602735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Priorisierte Use Cases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151375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261103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4261103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Governance und EU AI 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809743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919471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919471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Umsetzungsfahrplan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5468111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577839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5577839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Nächste Schritte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126479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2194560"/>
            <a:ext cx="3657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1E2A44"/>
                </a:solidFill>
                <a:latin typeface="Hanken Grotesk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405993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39684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ABSCHNITT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343400"/>
            <a:ext cx="105091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Titel des Abschnitts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5577840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88920"/>
            <a:ext cx="310896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2697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ABSCHNITT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063240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anken Grotesk"/>
              </a:rPr>
              <a:t>Wirkung beginnt mit Klarheit.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5852160"/>
            <a:ext cx="345643" cy="345643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50" b="1">
                <a:solidFill>
                  <a:srgbClr val="0F172A"/>
                </a:solidFill>
                <a:latin typeface="Hanken Grotesk"/>
              </a:rPr>
              <a:t>WV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195" y="5815584"/>
            <a:ext cx="2743200" cy="437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AUSGANGSLAGE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Eine prägnante Kernaussage als Überschrift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822319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Der einleitende Absatz fasst den Kontext sachlich zusammen. Er bleibt konkret und belegbar, ohne Übertreibung.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Ein zweiter Absatz vertieft den Gedanken oder benennt die Konsequenz für das Unternehmen.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ZWEI SPALTEN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Gegenüberstellung in zwei Spalten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4980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7520"/>
            <a:ext cx="49802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Beschreibung der aktuellen Situation in zwei bis drei Sätzen. Sachlich und konkret.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228600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0167" y="2468880"/>
            <a:ext cx="4980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Mit WirkVektor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3017520"/>
            <a:ext cx="49802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Beschreibung des angestrebten Zustands. Der Nutzen wird messbar und nachvollziehbar.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DREI 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Drei Bausteine im Überblick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07008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Strategie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Use Cases identifizieren und nach Wirkung priorisieren.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6714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62474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99634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2474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2474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EU AI Act, Sicherheit und Datenschutz von Anfang 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2180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7940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55100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7940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Wirkung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7940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Piloten produktiv führen und den Nutzen messen.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ZIELGRUPPEN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Hanken Grotesk"/>
              </a:rPr>
              <a:t>Vier Rollen, ein Ziel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Geschäftsführung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Wirtschaftlicher Nutzen und Steuerung.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5998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3430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430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IT-Leitung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430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Architektur, Integration, Betrieb.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Sicherheit &amp; Datenschutz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Compliance und Kontrolle.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46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178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178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Fachbereiche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178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Use Cases aus der Praxis.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26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AUFZÄHLUNG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Kernpunkte mit Akzent-Marker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450592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331720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Sachliche, belegbare Aussage als erster Punkt.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017520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898648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Jeder Punkt steht für genau einen Gedanken.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584448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3465576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Der Teal-Marker ersetzt klassische Bullet-Punkte.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151376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4032504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Konsistente Abstände sorgen für ruhiges Schriftbild.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718304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599432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Maximal fünf bis sechs Punkte pro Folie.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63040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D9488"/>
                </a:solidFill>
                <a:latin typeface="Hanken Grotesk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560320"/>
            <a:ext cx="1050919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FFFFF"/>
                </a:solidFill>
                <a:latin typeface="Hanken Grotesk"/>
              </a:rPr>
              <a:t>KI entfaltet erst dann Wirkung, wenn sie kontrolliert, regelkonform und messbar in die Praxis kommt.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5029200"/>
            <a:ext cx="457200" cy="45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1328" y="484632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Inter"/>
              </a:rPr>
              <a:t>Sebastian Schucht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138928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Gründer &amp; Geschäftsführer, WirkVektor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BEGRIFF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8872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Hanken Grotesk"/>
              </a:rPr>
              <a:t>KI-Governance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560320"/>
            <a:ext cx="10509199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560320"/>
            <a:ext cx="82296" cy="2194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2926080"/>
            <a:ext cx="9411919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475569"/>
                </a:solidFill>
                <a:latin typeface="Inter"/>
              </a:rPr>
              <a:t>Der organisatorische Rahmen aus Regeln, Rollen und Kontrollen, der sicherstellt, dass KI im Unternehmen regelkonform, sicher und nachvollziehbar eingesetzt wird — Grundlage für EU-AI-Act-Konformität.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EMPFEHLUNG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Was zählt — und was schadet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4980279" cy="2743200"/>
          </a:xfrm>
          <a:prstGeom prst="roundRect">
            <a:avLst>
              <a:gd name="adj" fmla="val 6000"/>
            </a:avLst>
          </a:prstGeom>
          <a:solidFill>
            <a:srgbClr val="E7F4F2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56032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D9488"/>
                </a:solidFill>
                <a:latin typeface="Inter"/>
              </a:rPr>
              <a:t>EMPFOHLEN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0632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Use Cases nach Wirkung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5204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Governance früh verankern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977639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Mitarbeitende befähigen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44348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Nutzen messbar machen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2286000"/>
            <a:ext cx="4980279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032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Inter"/>
              </a:rPr>
              <a:t>VERMEIDEN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632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Tools ohne Strategie einführen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5927" y="35204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Governance nachträglich anbauen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977639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Teams außen vor lassen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44348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Wirkung nicht überprüfen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WIRKUNG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Kennzahlen mit Fortschrittsbalken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68 %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3657600"/>
            <a:ext cx="2174821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der Unternehmen ohne KI-Governance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6714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3×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6714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6714" y="3657600"/>
            <a:ext cx="2718526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6714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schnellere Use-Case-Auswahl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2180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–40 %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52180" y="3657600"/>
            <a:ext cx="1279306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2180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Aufwand durch klare Priorisierung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21208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Inter"/>
              </a:rPr>
              <a:t>Beispielwerte — vor Nutzung mit belegten Quellen ersetzen.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Vier Schritte zum Ergebnis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520440"/>
            <a:ext cx="1014343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19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19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Analyse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10" name="Chevron 9"/>
          <p:cNvSpPr/>
          <p:nvPr/>
        </p:nvSpPr>
        <p:spPr>
          <a:xfrm>
            <a:off x="31896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35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35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28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Konzept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28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15" name="Chevron 14"/>
          <p:cNvSpPr/>
          <p:nvPr/>
        </p:nvSpPr>
        <p:spPr>
          <a:xfrm>
            <a:off x="59312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51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51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20" name="Chevron 19"/>
          <p:cNvSpPr/>
          <p:nvPr/>
        </p:nvSpPr>
        <p:spPr>
          <a:xfrm>
            <a:off x="86728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967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67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60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Skalierung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60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METHODIK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72A"/>
                </a:solidFill>
                <a:latin typeface="Hanken Grotesk"/>
              </a:rPr>
              <a:t>Die 6 Phasen der WirkVektor-Methodik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088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Kontext, Ziele und Status quo erfassen.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0994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1034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6834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Bewerten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1034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Daten, Prozesse und Reifegrad einschätzen.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0740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0780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6580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Priorisieren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0780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Use Cases nach Nutzen, Aufwand und Risiko ordnen.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1288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7088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Absichern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Governance, EU AI Act und Sicherheit verankern.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0994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1034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6834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Umsetzen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1034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Piloten produktiv und kontrolliert einführen.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0740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0780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6580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Messen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0780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Wirkung messen und kontinuierlich verbessern.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FAHRPLAN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Umsetzung über vier Quartale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108960"/>
            <a:ext cx="10509199" cy="2743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3017520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Readiness &amp; Strategie</a:t>
            </a:r>
          </a:p>
        </p:txBody>
      </p:sp>
      <p:sp>
        <p:nvSpPr>
          <p:cNvPr id="9" name="Oval 8"/>
          <p:cNvSpPr/>
          <p:nvPr/>
        </p:nvSpPr>
        <p:spPr>
          <a:xfrm>
            <a:off x="3468547" y="3017520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Use-Case-Sprint</a:t>
            </a:r>
          </a:p>
        </p:txBody>
      </p:sp>
      <p:sp>
        <p:nvSpPr>
          <p:cNvPr id="12" name="Oval 11"/>
          <p:cNvSpPr/>
          <p:nvPr/>
        </p:nvSpPr>
        <p:spPr>
          <a:xfrm>
            <a:off x="6095847" y="3017520"/>
            <a:ext cx="201168" cy="20116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58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Governance &amp; Pilot</a:t>
            </a:r>
          </a:p>
        </p:txBody>
      </p:sp>
      <p:sp>
        <p:nvSpPr>
          <p:cNvPr id="15" name="Oval 14"/>
          <p:cNvSpPr/>
          <p:nvPr/>
        </p:nvSpPr>
        <p:spPr>
          <a:xfrm>
            <a:off x="8723147" y="3017520"/>
            <a:ext cx="201168" cy="20116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31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1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Skalierung &amp; Messung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PRIORISIERUNG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Nutzen-Aufwand-Matrix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1755648" y="228600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55648" y="2286000"/>
            <a:ext cx="1554480" cy="1554480"/>
          </a:xfrm>
          <a:prstGeom prst="rect">
            <a:avLst/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10128" y="2286000"/>
            <a:ext cx="10972" cy="31089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55648" y="3840480"/>
            <a:ext cx="3108960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2468880"/>
            <a:ext cx="11887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D9488"/>
                </a:solidFill>
                <a:latin typeface="Inter"/>
              </a:rPr>
              <a:t>Quick Wins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86000"/>
            <a:ext cx="82296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75569"/>
                </a:solidFill>
                <a:latin typeface="Inter"/>
              </a:rPr>
              <a:t>NUTZEN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5532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75569"/>
                </a:solidFill>
                <a:latin typeface="Inter"/>
              </a:rPr>
              <a:t>AUFWAND →</a:t>
            </a:r>
          </a:p>
        </p:txBody>
      </p:sp>
      <p:sp>
        <p:nvSpPr>
          <p:cNvPr id="12" name="Oval 11"/>
          <p:cNvSpPr/>
          <p:nvPr/>
        </p:nvSpPr>
        <p:spPr>
          <a:xfrm>
            <a:off x="2578608" y="301752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78608" y="30175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14" name="Oval 13"/>
          <p:cNvSpPr/>
          <p:nvPr/>
        </p:nvSpPr>
        <p:spPr>
          <a:xfrm>
            <a:off x="3950208" y="338328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0208" y="33832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6" name="Oval 15"/>
          <p:cNvSpPr/>
          <p:nvPr/>
        </p:nvSpPr>
        <p:spPr>
          <a:xfrm>
            <a:off x="3035808" y="448056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44805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18" name="Oval 17"/>
          <p:cNvSpPr/>
          <p:nvPr/>
        </p:nvSpPr>
        <p:spPr>
          <a:xfrm>
            <a:off x="4224528" y="475488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7548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23774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4A3B8"/>
                </a:solidFill>
                <a:latin typeface="Inter"/>
              </a:rPr>
              <a:t>USE CASES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28346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A — Dokumenten-Assistent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6128" y="32918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B — Angebotsgenerierung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749039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C — Wissensdatenbank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6128" y="42062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D — Prozessautomatisierung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Zwei Pakete im Vergleich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4980279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7008" y="260604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88920"/>
            <a:ext cx="424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KI-Readiness-Check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42900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Standortbestimmung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8679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2–3 Wochen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430682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Management-Bericht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4745736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Roadmap-Skizze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2286000"/>
            <a:ext cx="4980279" cy="31089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35927" y="2606040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5927" y="2788920"/>
            <a:ext cx="424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Hanken Grotesk"/>
              </a:rPr>
              <a:t>Produktiver KI-Pilot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42900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Use Case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8679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6–10 Wochen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430682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Governance inklusive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5927" y="4745736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Wirkungsmessung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Tabelle im Markenstil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2286000"/>
          <a:ext cx="105091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7299"/>
                <a:gridCol w="2627299"/>
                <a:gridCol w="2627299"/>
                <a:gridCol w="2627302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Use Case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Nutzen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Aufwand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Priorität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Dokumenten-Assistent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Gering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Wissensdatenbank (RAG)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Angebotsgenerierung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Prozessautomatisierung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AUSWERTUNG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Balkendiagramm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41248" y="2194560"/>
          <a:ext cx="10509199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VERTEILUNG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Ring-/Kreisdiagramm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41248" y="2103120"/>
          <a:ext cx="54864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Inter"/>
              </a:rPr>
              <a:t>[ Vollflächiges Bild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575157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66013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BILDUNTERSCHRIFT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89320"/>
            <a:ext cx="105091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Aussage zum Bild in einer prägnanten Zeile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063240"/>
            <a:ext cx="609584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[ Bild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6735927" y="186537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93127" y="177393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BILD +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5927" y="2148840"/>
            <a:ext cx="461451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F172A"/>
                </a:solidFill>
                <a:latin typeface="Hanken Grotesk"/>
              </a:rPr>
              <a:t>Bild links, Inhalt rechts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5927" y="3383280"/>
            <a:ext cx="46145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Dieses Layout kombiniert eine Bildfläche mit erläuterndem Text. Geeignet für Referenzen, Produktbilder oder Porträts.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LEISTUNGSPAKETE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Fünf standardisierte Pakete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KI-Readiness-Check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7951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7951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6551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6551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KI-Use-Case-Sprint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4655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4655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3255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3255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KI-Governance-Starterpaket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1359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1359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9959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39959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AI-Literacy-Schulung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8063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68063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6663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6663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Produktiver KI-Pilot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Menschen hinter WirkVektor</a:t>
            </a:r>
          </a:p>
        </p:txBody>
      </p:sp>
      <p:pic>
        <p:nvPicPr>
          <p:cNvPr id="5" name="Picture 4" descr="sebastian-schu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77440"/>
            <a:ext cx="2514600" cy="2514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01568" y="2468880"/>
            <a:ext cx="7948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Hanken Grotesk"/>
              </a:rPr>
              <a:t>Sebastian Schucht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2926080"/>
            <a:ext cx="7948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D9488"/>
                </a:solidFill>
                <a:latin typeface="Inter"/>
              </a:rPr>
              <a:t>Gründer &amp; Geschäftsführer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3383280"/>
            <a:ext cx="79488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Begleitet mittelständische Unternehmen bei der strukturierten Einführung von KI — vom ersten Use Case bis zum produktiven Betrieb. Hintergrund in Informationssicherheit und Datenschutz.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04825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19568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NÄCHSTER SCHRITT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31720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Lassen Sie uns Ihren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KI-Readiness-Check starten.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4297680"/>
            <a:ext cx="2743200" cy="64008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29768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Erstgespräch vereinbaren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208" y="4297680"/>
            <a:ext cx="5486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7D0DE"/>
                </a:solidFill>
                <a:latin typeface="Inter"/>
              </a:rPr>
              <a:t>kontakt@wirkvektor.de   ·   wirkvektor.de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" y="822960"/>
            <a:ext cx="384048" cy="3840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0F172A"/>
                </a:solidFill>
                <a:latin typeface="Hanken Grotesk"/>
              </a:rPr>
              <a:t>WV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786384"/>
            <a:ext cx="2743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74320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Vielen Dank.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77639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297680"/>
            <a:ext cx="105091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Sebastian Schucht · Gründer &amp; Geschäftsführer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kontakt@wirkvektor.de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wirkvektor.de  ·  linkedin.com/in/sebastianschucht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96265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8712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ANHANG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4612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Hanken Grotesk"/>
              </a:rPr>
              <a:t>Backup &amp; weiterführende Folien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WirkVektor — Master-Folien</dc:title>
  <dc:subject/>
  <dc:creator>WirkVektor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Vorlage</cp:category>
</cp:coreProperties>
</file>